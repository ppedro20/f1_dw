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CB7E4-77D5-4430-B46D-E345F21D70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6278F-7A75-44E0-9102-AF41DBC1A5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E1C7F4-702E-4DB8-8A9B-CD847122F59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51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76280" y="1517760"/>
            <a:ext cx="9127440" cy="29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FF6F66"/>
                </a:solidFill>
                <a:effectLst/>
                <a:uFillTx/>
                <a:latin typeface="Arial"/>
              </a:rPr>
              <a:t>MESTRADO EM CIÊNCIA DE DADOS · BUSINESS INTELLIGENCE · 2025/2026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76280" y="1845360"/>
            <a:ext cx="9127440" cy="10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8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Business Intelligence na Formula 1</a:t>
            </a:r>
            <a:endParaRPr lang="en-US" sz="2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76280" y="2559600"/>
            <a:ext cx="9127440" cy="3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60" b="0" u="none" strike="noStrike">
                <a:solidFill>
                  <a:srgbClr val="C9C9D4"/>
                </a:solidFill>
                <a:effectLst/>
                <a:uFillTx/>
                <a:latin typeface="Arial"/>
              </a:rPr>
              <a:t>Conceção de um Data Warehouse para Análise de Performance em Corrida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76280" y="3273840"/>
            <a:ext cx="2143080" cy="536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76280" y="470268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Estudante 1 · Estudante 2 · Estudante 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9A9AA8"/>
                </a:solidFill>
                <a:effectLst/>
                <a:uFillTx/>
                <a:latin typeface="Arial"/>
              </a:rPr>
              <a:t>Escola Superior de Tecnologia e Gestão — Politécnico de Leiria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ROTEIRO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Agenda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76280" y="1285920"/>
            <a:ext cx="297720" cy="29772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22680" y="1249920"/>
            <a:ext cx="868104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Conceção do projeto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Objetivos, stakeholders, requisitos e questões de análise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76280" y="2030040"/>
            <a:ext cx="297720" cy="29772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22680" y="1994040"/>
            <a:ext cx="868104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Fontes de dados e metadados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22 fontes: históricos, incidentes e telemetria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76280" y="2773800"/>
            <a:ext cx="297720" cy="29772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22680" y="2738160"/>
            <a:ext cx="868104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Modelo dimensional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Constelação de factos, dimensões conformadas e hierarquias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76280" y="3517920"/>
            <a:ext cx="297720" cy="29772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922680" y="3482280"/>
            <a:ext cx="868104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A história dos dados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User stories: as vozes dos stakeholders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76280" y="4262040"/>
            <a:ext cx="297720" cy="29772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922680" y="4226400"/>
            <a:ext cx="868104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Demonstração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Dashboards analíticos em Power BI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1 · CONCEÇÃO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Objetivos do projeto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76280" y="1309680"/>
            <a:ext cx="4474440" cy="1607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Data Warehouse dimensional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Esquema em estrela construído a partir de fontes OLTP históricas (1950–2026).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129280" y="1309680"/>
            <a:ext cx="4474440" cy="1607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Pipelines ETL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Extração, transformação e carga com refrescamento incremental nas 24 h após cada GP.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76280" y="3155040"/>
            <a:ext cx="4474440" cy="1607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Dashboards analíticos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Painéis Power BI para estrategistas, analistas e direção técnica.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129280" y="3155040"/>
            <a:ext cx="4474440" cy="1607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Storytelling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“A Anatomia de uma Vitória” — narrativa de dados para uma plateia-alvo.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1 · CONCEÇÃO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Promotores e stakeholders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76280" y="1309680"/>
            <a:ext cx="3155040" cy="363132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Promotor académico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UC de Business Intelligence, Mestrado em Ciência de Dados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Sponsor (simulado)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Direção de Desporto Motorizado da FIA / equipas de F1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Utilizadores-alvo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Estrategistas de corrida, analistas de performance, jornalistas especializados e comentadores técnicos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809880" y="1309680"/>
            <a:ext cx="5794200" cy="81864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Diretor Técnico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Fiabilidade e performance mecânica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809880" y="2247120"/>
            <a:ext cx="5794200" cy="81864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Estrategista de Corrida Chefe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Estratégia de paragens e degradação de pneus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809880" y="3184560"/>
            <a:ext cx="5794200" cy="81864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Analista de Dados Sénior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Consistência e ultrapassagens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809880" y="4122360"/>
            <a:ext cx="5794200" cy="81864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Jornalista / Comentador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Narrativa de dados e contexto histórico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1 · CONCEÇÃO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Requisitos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76280" y="1309680"/>
            <a:ext cx="2943360" cy="3452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Negócio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Comparação direta de performance entre equipas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Previsão de degradação de pneus por circuito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Custo-benefício dos investimentos técnicos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568320" y="1309680"/>
            <a:ext cx="2943360" cy="3452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Técnicos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Fontes CSV e JSON (histórico, incidentes, telemetria)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ETL em Python (pandas) + SSIS; DW em SQL Server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Power BI; refrescamento incremental 24 h pós-GP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660360" y="1309680"/>
            <a:ext cx="2943360" cy="34524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Qualidade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Integridade referencial factos–dimensões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Monitorização de duplicados por chave de negócio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Métricas de carga (linhas carregadas / rejeitadas)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1 · CONCEÇÃO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10 questões de análise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76280" y="133344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63280" y="127980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Evolução do tempo médio de pit stop por construtor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76280" y="207756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63280" y="202392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Pole position vs. vitória, por altitude do circuito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76280" y="282168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63280" y="276804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Abandonos por falha mecânica vs. temperatura elevada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76280" y="356580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63280" y="351216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Consistência na transição de pneus macios → duros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76280" y="430992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63280" y="425628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Impacto do Safety Car nas posições do Top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188680" y="133344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575680" y="127980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Setor da volta (S1/S2/S3) com mais ultrapassagens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188680" y="207756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575680" y="202392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Geografia dos pontos por nacionalidade (20 anos)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188680" y="282168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575680" y="276804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Ganho de posições na 1.ª volta a partir de P10–P15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188680" y="356580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575680" y="351216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Undercut vs. overcut com base no desgaste real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188680" y="4309920"/>
            <a:ext cx="267840" cy="2678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pPr algn="ctr">
              <a:spcAft>
                <a:spcPts val="283"/>
              </a:spcAft>
            </a:pPr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575680" y="4256280"/>
            <a:ext cx="40280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Estratégia de 2 vs. 3 paragens e posição final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2 · FONTES DE DADOS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Um repositório, três famílias de fontes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76280" y="1249920"/>
            <a:ext cx="2170440" cy="101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spcAft>
                <a:spcPts val="283"/>
              </a:spcAft>
            </a:pPr>
            <a:r>
              <a:rPr lang="en-US" sz="340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22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fontes de dados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795400" y="1249920"/>
            <a:ext cx="2170440" cy="101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spcAft>
                <a:spcPts val="283"/>
              </a:spcAft>
            </a:pPr>
            <a:r>
              <a:rPr lang="en-US" sz="340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77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épocas (1950–2026)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114520" y="1249920"/>
            <a:ext cx="2170440" cy="101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spcAft>
                <a:spcPts val="283"/>
              </a:spcAft>
            </a:pPr>
            <a:r>
              <a:rPr lang="en-US" sz="340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1 171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corridas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433640" y="1249920"/>
            <a:ext cx="2170440" cy="101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spcAft>
                <a:spcPts val="283"/>
              </a:spcAft>
            </a:pPr>
            <a:r>
              <a:rPr lang="en-US" sz="340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872 521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tempos de volta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76280" y="2500200"/>
            <a:ext cx="2943360" cy="22618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Históricos (CSV)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14 tabelas Ergast/Kaggle: corridas, resultados, pilotos, construtores, circuitos, voltas, paragens, qualificação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568320" y="2500200"/>
            <a:ext cx="2943360" cy="22618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Incidentes e segurança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Safety Car (370), bandeiras vermelhas (99), acidentes fatais, estimativas de VSC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660360" y="2500200"/>
            <a:ext cx="2943360" cy="22618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Telemetria e sessão (JSON)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2024–2026: meteorologia, compostos de pneu, stints, setores S1/S2/S3, telemetria de alta frequência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2 · FONTES DE DADOS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Modelo de dados das fontes originais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833400" y="1190520"/>
            <a:ext cx="7143120" cy="40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8095680" y="1369080"/>
            <a:ext cx="1508040" cy="357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Centrado em races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Entidades de referência partilhadas pelas tabelas transacionais.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Sem FK formal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Incidentes ligados por matching textual (ano + nome do GP).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2 · FONTES DE DADOS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Qualidade e cobertura temporal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76280" y="1309680"/>
            <a:ext cx="4444560" cy="36313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Achados de qualidade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Nulidades semânticas: position NULL = não classificado (“R”, “DNF”)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Chaves compostas em lap_times e pit_stops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“USA” vs. “United States” → normalização geográfica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Telemetria com arrays posicionais sem identificadores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– Incidentes sem chaves → matching textual no ETL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159160" y="1309680"/>
            <a:ext cx="4444560" cy="36313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Cobertura temporal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1950+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races, results, standings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1996+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lap_times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2003+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qualifying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2011+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pit_stops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2021+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sprint_results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2024+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telemetria, meteo, compostos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A cobertura delimita o âmbito temporal de cada questão de análise.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3 · MODELO DIMENSIONAL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Constelação de factos: dois grãos de análise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76280" y="1309680"/>
            <a:ext cx="4444560" cy="2797920"/>
          </a:xfrm>
          <a:prstGeom prst="rect">
            <a:avLst/>
          </a:prstGeom>
          <a:solidFill>
            <a:srgbClr val="FBE9E8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Fact_Performance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Grão: 1 linha por piloto, por corrida (≈ 27 mil linhas)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Pontos, tempo total e n.º de pit stops, posições de partida/chegada, posições ganhas, abandono mecânico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Suporta Q1, Q2, Q3, Q5, Q7, Q10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159160" y="1309680"/>
            <a:ext cx="4444560" cy="2797920"/>
          </a:xfrm>
          <a:prstGeom prst="rect">
            <a:avLst/>
          </a:prstGeom>
          <a:solidFill>
            <a:srgbClr val="FBE9E8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Fact_Volta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Grão: 1 linha por piloto, por corrida, por volta (≈ 873 mil linhas)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Tempo de volta, setores S1/S2/S3, posição, composto/stint, volta sob Safety Car, paragem na box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73737E"/>
                </a:solidFill>
                <a:effectLst/>
                <a:uFillTx/>
                <a:latin typeface="Arial"/>
              </a:rPr>
              <a:t>Suporta Q4, Q5, Q6, Q8, Q9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76280" y="4256280"/>
            <a:ext cx="9127440" cy="77400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 dimensões conformadas · 2 hierarquias (Tempo, Circuito) · Dim_Tempo ao nível do dia · SCD Tipo 2 na equipa do piloto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3 · MODELO DIMENSIONAL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Diagrama do modelo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1488240" y="1160640"/>
            <a:ext cx="7083720" cy="428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3 · MODELO DIMENSIONAL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Dimensões, hierarquias e rastreabilidade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76280" y="1279800"/>
            <a:ext cx="5536080" cy="6400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Dim_Tempo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Ano → Trimestre → Mês → Dia (granularidade diária)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76280" y="2023920"/>
            <a:ext cx="5536080" cy="6400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Dim_Circuito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Continente → País → Cidade → Circuito · + Altitude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76280" y="2768040"/>
            <a:ext cx="5536080" cy="6400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Dim_Piloto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Nome, nacionalidade, equipa com histórico (SCD Tipo 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76280" y="3512160"/>
            <a:ext cx="5536080" cy="6400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Dim_Construtor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Nome, país, motorizador (lookup)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76280" y="4256280"/>
            <a:ext cx="5536080" cy="64008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5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Dim_Composto </a:t>
            </a:r>
            <a:r>
              <a:rPr lang="en-US" sz="1100" b="0" u="none" strike="noStrike">
                <a:solidFill>
                  <a:srgbClr val="2A2A35"/>
                </a:solidFill>
                <a:effectLst/>
                <a:uFillTx/>
                <a:latin typeface="Arial"/>
              </a:rPr>
              <a:t>SOFT → WET, tipo de piso seco/chuva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250320" y="1279800"/>
            <a:ext cx="3353400" cy="363132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Questões → modelo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As 10 questões têm rastreabilidade direta para factos e dimensões, com âmbito temporal explícito.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Exigências mínimas cumpridas e excedidas: 10 questões, dimensão data ao dia, 2+ medidas, 4+ dimensões com 2 hierarquias.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51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 txBox="1"/>
          <p:nvPr/>
        </p:nvSpPr>
        <p:spPr>
          <a:xfrm>
            <a:off x="476280" y="654840"/>
            <a:ext cx="9127440" cy="29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FF6F66"/>
                </a:solidFill>
                <a:effectLst/>
                <a:uFillTx/>
                <a:latin typeface="Arial"/>
              </a:rPr>
              <a:t>4 · A HISTÓRIA DOS DADOS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76280" y="952560"/>
            <a:ext cx="9127440" cy="65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8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Anatomia de uma Vitória</a:t>
            </a:r>
            <a:endParaRPr lang="en-US" sz="2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76280" y="1666800"/>
            <a:ext cx="9127440" cy="41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40" b="0" i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“Uma vitória não é um evento isolado — é o resultado de decisões incrementais.”</a:t>
            </a:r>
            <a:endParaRPr lang="en-US" sz="1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76280" y="2500200"/>
            <a:ext cx="2943360" cy="196452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ATO I — Macro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O campeonato: hegemonias, geografia dos pontos, ciclos de domínio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568320" y="2500200"/>
            <a:ext cx="2943360" cy="196452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ATO II — Meso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O Grande Prémio: qualificação, paragens, Safety Car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660360" y="2500200"/>
            <a:ext cx="2943360" cy="196452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ATO III — Micro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6EE"/>
                </a:solidFill>
                <a:effectLst/>
                <a:uFillTx/>
                <a:latin typeface="Arial"/>
              </a:rPr>
              <a:t>A volta: pneus, consistência, setores, fiabilidade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76280" y="4702680"/>
            <a:ext cx="9127440" cy="3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889" b="0" u="none" strike="noStrike">
                <a:solidFill>
                  <a:srgbClr val="9A9AA8"/>
                </a:solidFill>
                <a:effectLst/>
                <a:uFillTx/>
                <a:latin typeface="Arial"/>
              </a:rPr>
              <a:t>Cada user story dá voz a um stakeholder — e cada dashboard responde-lhe com dados.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4 · A HISTÓRIA DOS DADOS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User stories — engenharia e estratégia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6280" y="1279800"/>
            <a:ext cx="4444560" cy="36907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Diretor Técnico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comparar o tempo de pit stop da minha equipa com os concorrentes diretos, para identificar janelas de otimização mecânica.”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analisar a taxa de abandono por falha mecânica em temperatura elevada, para avaliar a robustez do carro.”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159160" y="1279800"/>
            <a:ext cx="4444560" cy="36907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Estrategista de Corrida Chefe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simular janelas de paragem com base na degradação de pneu por circuito, para mitigar a perda de posição em pista.”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comparar undercut vs. overcut em cada circuito, para maximizar o ganho nas paragens.”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avaliar o impacto de 2 vs. 3 paragens na posição final, para definir a estratégia ótima.”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 txBox="1"/>
          <p:nvPr/>
        </p:nvSpPr>
        <p:spPr>
          <a:xfrm>
            <a:off x="476280" y="267840"/>
            <a:ext cx="9127440" cy="23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pc="227" strike="noStrike">
                <a:solidFill>
                  <a:srgbClr val="E10600"/>
                </a:solidFill>
                <a:effectLst/>
                <a:uFillTx/>
                <a:latin typeface="Arial"/>
              </a:rPr>
              <a:t>4 · A HISTÓRIA DOS DADOS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76280" y="46116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120" b="1" u="none" strike="noStrike">
                <a:solidFill>
                  <a:srgbClr val="15151E"/>
                </a:solidFill>
                <a:effectLst/>
                <a:uFillTx/>
                <a:latin typeface="Arial"/>
              </a:rPr>
              <a:t>User stories — análise e narrativa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76280" y="1279800"/>
            <a:ext cx="4444560" cy="36907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Analista de Dados Sénior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analisar a consistência de tempos quando o piloto transita de pneus macios para duros, para avaliar a gestão de pneus.”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identificar quem mais ganha posições na 1.ª volta partindo de P10–P15, para detetar talento no meio do pelotão.”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correlacionar pole position e vitória por altitude do circuito, para entender a vantagem da qualificação.”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159160" y="1279800"/>
            <a:ext cx="4444560" cy="369072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230" b="1" u="none" strike="noStrike">
                <a:solidFill>
                  <a:srgbClr val="E10600"/>
                </a:solidFill>
                <a:effectLst/>
                <a:uFillTx/>
                <a:latin typeface="Arial"/>
              </a:rPr>
              <a:t>Jornalista / Comentador Técnico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visualizar a geografia dos pontos por nacionalidade nos últimos 20 anos, para identificar hegemonias regionais.”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analisar o impacto do Safety Car no Top 10, para explicar reviravoltas ao público.”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20" b="0" i="1" u="none" strike="noStrike">
                <a:solidFill>
                  <a:srgbClr val="3A3A46"/>
                </a:solidFill>
                <a:effectLst/>
                <a:uFillTx/>
                <a:latin typeface="Arial"/>
              </a:rPr>
              <a:t>“Quero saber em que setor há mais ultrapassagens em cada circuito, para enriquecer a narração em direto.”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51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 txBox="1"/>
          <p:nvPr/>
        </p:nvSpPr>
        <p:spPr>
          <a:xfrm>
            <a:off x="476280" y="1369080"/>
            <a:ext cx="9127440" cy="29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spcAft>
                <a:spcPts val="283"/>
              </a:spcAft>
            </a:pPr>
            <a:r>
              <a:rPr lang="en-US" sz="1100" b="1" u="none" spc="227" strike="noStrike">
                <a:solidFill>
                  <a:srgbClr val="FF6F66"/>
                </a:solidFill>
                <a:effectLst/>
                <a:uFillTx/>
                <a:latin typeface="Arial"/>
              </a:rPr>
              <a:t>5 · DEMONSTRAÇÃO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76280" y="1785960"/>
            <a:ext cx="9127440" cy="77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spcAft>
                <a:spcPts val="283"/>
              </a:spcAft>
            </a:pPr>
            <a:r>
              <a:rPr lang="en-US" sz="28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Dos dados à decisão</a:t>
            </a:r>
            <a:endParaRPr lang="en-US" sz="2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76280" y="2500200"/>
            <a:ext cx="912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>
              <a:spcAft>
                <a:spcPts val="283"/>
              </a:spcAft>
            </a:pPr>
            <a:r>
              <a:rPr lang="en-US" sz="1440" b="0" i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Vamos ver estas histórias ao vivo, no Power BI.</a:t>
            </a:r>
            <a:endParaRPr lang="en-US" sz="1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76280" y="3273840"/>
            <a:ext cx="2943360" cy="136908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Painel Executivo de Construtores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9A9AA8"/>
                </a:solidFill>
                <a:effectLst/>
                <a:uFillTx/>
                <a:latin typeface="Arial"/>
              </a:rPr>
              <a:t>Pit stops, fiabilidade, pontos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568320" y="3273840"/>
            <a:ext cx="2943360" cy="136908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Performance do Piloto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9A9AA8"/>
                </a:solidFill>
                <a:effectLst/>
                <a:uFillTx/>
                <a:latin typeface="Arial"/>
              </a:rPr>
              <a:t>Consistência, head-to-head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660360" y="3273840"/>
            <a:ext cx="2943360" cy="1369080"/>
          </a:xfrm>
          <a:prstGeom prst="rect">
            <a:avLst/>
          </a:prstGeom>
          <a:solidFill>
            <a:srgbClr val="1F1F2B"/>
          </a:solidFill>
          <a:ln w="0">
            <a:noFill/>
          </a:ln>
        </p:spPr>
        <p:txBody>
          <a:bodyPr lIns="90000" tIns="90000" rIns="90000" bIns="90000" anchor="t">
            <a:noAutofit/>
          </a:bodyPr>
          <a:p>
            <a:r>
              <a:rPr lang="en-US" sz="119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Análise de Circuitos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889" b="0" u="none" strike="noStrike">
                <a:solidFill>
                  <a:srgbClr val="9A9AA8"/>
                </a:solidFill>
                <a:effectLst/>
                <a:uFillTx/>
                <a:latin typeface="Arial"/>
              </a:rPr>
              <a:t>Safety Car, clima, ultrapassagens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968640" y="4881240"/>
            <a:ext cx="2143080" cy="53640"/>
          </a:xfrm>
          <a:prstGeom prst="rect">
            <a:avLst/>
          </a:prstGeom>
          <a:solidFill>
            <a:srgbClr val="E10600"/>
          </a:solidFill>
          <a:ln w="0">
            <a:noFill/>
          </a:ln>
        </p:spPr>
        <p:txBody>
          <a:bodyPr lIns="18000" tIns="18000" rIns="18000" bIns="18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